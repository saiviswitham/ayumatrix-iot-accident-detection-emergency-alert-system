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60D9F0-AD3E-4069-9D80-9EF6BFDCCF7D}" v="120" dt="2025-09-21T06:52:11.2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 showGuides="1">
      <p:cViewPr>
        <p:scale>
          <a:sx n="50" d="100"/>
          <a:sy n="50" d="100"/>
        </p:scale>
        <p:origin x="226" y="96"/>
      </p:cViewPr>
      <p:guideLst>
        <p:guide orient="horz" pos="2880"/>
        <p:guide pos="212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A45208-674D-433C-9AC5-84FE4797F146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5B1466-E820-4273-A95D-5CE1DAD86E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6260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5B1466-E820-4273-A95D-5CE1DAD86E45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390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16000" y="542988"/>
            <a:ext cx="7776845" cy="78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rgbClr val="535353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rgbClr val="535353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rgbClr val="535353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rgbClr val="535353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650913" y="4247008"/>
            <a:ext cx="15637085" cy="603999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017619" y="568843"/>
            <a:ext cx="1609724" cy="8381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542988"/>
            <a:ext cx="9220200" cy="78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rgbClr val="535353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92382" y="2634624"/>
            <a:ext cx="15090140" cy="5392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logo with a heart and a shield&#10;&#10;AI-generated content may be incorrect.">
            <a:extLst>
              <a:ext uri="{FF2B5EF4-FFF2-40B4-BE49-F238E27FC236}">
                <a16:creationId xmlns:a16="http://schemas.microsoft.com/office/drawing/2014/main" id="{10C8586A-15BC-9DF3-A6C7-429BE417E7E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66700"/>
            <a:ext cx="18059399" cy="9753600"/>
          </a:xfrm>
          <a:prstGeom prst="rect">
            <a:avLst/>
          </a:prstGeom>
          <a:ln>
            <a:gradFill>
              <a:gsLst>
                <a:gs pos="51726">
                  <a:srgbClr val="C5D5E9"/>
                </a:gs>
                <a:gs pos="0">
                  <a:schemeClr val="accent1">
                    <a:lumMod val="5000"/>
                    <a:lumOff val="95000"/>
                  </a:schemeClr>
                </a:gs>
                <a:gs pos="93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8804" y="717788"/>
            <a:ext cx="4669729" cy="80291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607146" y="432569"/>
            <a:ext cx="10302240" cy="17678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11400" u="sng" spc="75" dirty="0">
                <a:solidFill>
                  <a:schemeClr val="accent4">
                    <a:lumMod val="75000"/>
                  </a:schemeClr>
                </a:solidFill>
                <a:latin typeface="Franklin Gothic Medium" panose="020B0603020102020204" pitchFamily="34" charset="0"/>
              </a:rPr>
              <a:t>PROTO</a:t>
            </a:r>
            <a:r>
              <a:rPr lang="en-US" sz="11400" u="sng" spc="660" dirty="0">
                <a:solidFill>
                  <a:schemeClr val="accent4">
                    <a:lumMod val="75000"/>
                  </a:schemeClr>
                </a:solidFill>
                <a:latin typeface="Franklin Gothic Medium" panose="020B0603020102020204" pitchFamily="34" charset="0"/>
              </a:rPr>
              <a:t>PLANET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16316" y="2414564"/>
            <a:ext cx="10883900" cy="17568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295"/>
              </a:spcBef>
            </a:pPr>
            <a:r>
              <a:rPr lang="en-US" altLang="en-US" sz="3800" dirty="0">
                <a:solidFill>
                  <a:schemeClr val="accent4">
                    <a:lumMod val="75000"/>
                  </a:schemeClr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altLang="en-US" sz="3800" b="1" dirty="0">
                <a:solidFill>
                  <a:schemeClr val="accent4">
                    <a:lumMod val="75000"/>
                  </a:schemeClr>
                </a:solidFill>
                <a:latin typeface="Trebuchet MS" panose="020B0603020202020204"/>
                <a:cs typeface="Trebuchet MS" panose="020B0603020202020204"/>
              </a:rPr>
              <a:t>Makethon for Sustainability Application</a:t>
            </a:r>
          </a:p>
          <a:p>
            <a:pPr algn="ctr">
              <a:lnSpc>
                <a:spcPct val="100000"/>
              </a:lnSpc>
              <a:spcBef>
                <a:spcPts val="4295"/>
              </a:spcBef>
            </a:pPr>
            <a:r>
              <a:rPr sz="3950" b="1" spc="85" dirty="0">
                <a:solidFill>
                  <a:schemeClr val="accent4">
                    <a:lumMod val="50000"/>
                  </a:schemeClr>
                </a:solidFill>
                <a:latin typeface="Franklin Gothic Medium" panose="020B0603020102020204" pitchFamily="34" charset="0"/>
                <a:cs typeface="Trebuchet MS" panose="020B0603020202020204"/>
              </a:rPr>
              <a:t>Project</a:t>
            </a:r>
            <a:r>
              <a:rPr sz="3950" b="1" spc="-114" dirty="0">
                <a:solidFill>
                  <a:schemeClr val="accent4">
                    <a:lumMod val="50000"/>
                  </a:schemeClr>
                </a:solidFill>
                <a:latin typeface="Franklin Gothic Medium" panose="020B0603020102020204" pitchFamily="34" charset="0"/>
                <a:cs typeface="Trebuchet MS" panose="020B0603020202020204"/>
              </a:rPr>
              <a:t> </a:t>
            </a:r>
            <a:r>
              <a:rPr sz="3950" b="1" dirty="0">
                <a:solidFill>
                  <a:schemeClr val="accent4">
                    <a:lumMod val="50000"/>
                  </a:schemeClr>
                </a:solidFill>
                <a:latin typeface="Franklin Gothic Medium" panose="020B0603020102020204" pitchFamily="34" charset="0"/>
                <a:cs typeface="Trebuchet MS" panose="020B0603020202020204"/>
              </a:rPr>
              <a:t>Title:</a:t>
            </a:r>
            <a:r>
              <a:rPr sz="3950" b="1" spc="-110" dirty="0">
                <a:solidFill>
                  <a:schemeClr val="accent4">
                    <a:lumMod val="50000"/>
                  </a:schemeClr>
                </a:solidFill>
                <a:latin typeface="Franklin Gothic Medium" panose="020B0603020102020204" pitchFamily="34" charset="0"/>
                <a:cs typeface="Trebuchet MS" panose="020B0603020202020204"/>
              </a:rPr>
              <a:t> </a:t>
            </a:r>
            <a:endParaRPr sz="3950" dirty="0">
              <a:solidFill>
                <a:schemeClr val="accent4">
                  <a:lumMod val="50000"/>
                </a:schemeClr>
              </a:solidFill>
              <a:latin typeface="Franklin Gothic Medium" panose="020B0603020102020204" pitchFamily="34" charset="0"/>
              <a:cs typeface="Trebuchet MS" panose="020B0603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39433" y="6083795"/>
            <a:ext cx="9829800" cy="290444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90"/>
              </a:spcBef>
            </a:pPr>
            <a:r>
              <a:rPr sz="3200" b="1" spc="215" dirty="0">
                <a:latin typeface="Franklin Gothic Medium" panose="020B0603020102020204" pitchFamily="34" charset="0"/>
                <a:cs typeface="Trebuchet MS" panose="020B0603020202020204"/>
              </a:rPr>
              <a:t>Team</a:t>
            </a:r>
            <a:r>
              <a:rPr sz="3200" b="1" spc="-60" dirty="0">
                <a:latin typeface="Franklin Gothic Medium" panose="020B0603020102020204" pitchFamily="34" charset="0"/>
                <a:cs typeface="Trebuchet MS" panose="020B0603020202020204"/>
              </a:rPr>
              <a:t> </a:t>
            </a:r>
            <a:r>
              <a:rPr sz="3200" b="1" spc="254" dirty="0">
                <a:latin typeface="Franklin Gothic Medium" panose="020B0603020102020204" pitchFamily="34" charset="0"/>
                <a:cs typeface="Trebuchet MS" panose="020B0603020202020204"/>
              </a:rPr>
              <a:t>Name: </a:t>
            </a:r>
            <a:r>
              <a:rPr lang="en-US" sz="3200" b="1" spc="254" dirty="0" err="1">
                <a:latin typeface="Franklin Gothic Medium" panose="020B0603020102020204" pitchFamily="34" charset="0"/>
                <a:cs typeface="Trebuchet MS" panose="020B0603020202020204"/>
              </a:rPr>
              <a:t>AyuMatrix</a:t>
            </a:r>
            <a:endParaRPr lang="en-US" sz="3200" b="1" spc="254" dirty="0">
              <a:latin typeface="Franklin Gothic Medium" panose="020B0603020102020204" pitchFamily="34" charset="0"/>
              <a:cs typeface="Trebuchet MS" panose="020B0603020202020204"/>
            </a:endParaRPr>
          </a:p>
          <a:p>
            <a:pPr marL="12700" marR="5080">
              <a:lnSpc>
                <a:spcPct val="118000"/>
              </a:lnSpc>
              <a:spcBef>
                <a:spcPts val="90"/>
              </a:spcBef>
            </a:pPr>
            <a:r>
              <a:rPr sz="3200" b="1" spc="215" dirty="0">
                <a:latin typeface="Franklin Gothic Medium" panose="020B0603020102020204" pitchFamily="34" charset="0"/>
                <a:cs typeface="Trebuchet MS" panose="020B0603020202020204"/>
              </a:rPr>
              <a:t>Team</a:t>
            </a:r>
            <a:r>
              <a:rPr sz="3200" b="1" spc="-60" dirty="0">
                <a:latin typeface="Franklin Gothic Medium" panose="020B0603020102020204" pitchFamily="34" charset="0"/>
                <a:cs typeface="Trebuchet MS" panose="020B0603020202020204"/>
              </a:rPr>
              <a:t> </a:t>
            </a:r>
            <a:r>
              <a:rPr sz="3200" b="1" spc="215" dirty="0" err="1">
                <a:latin typeface="Franklin Gothic Medium" panose="020B0603020102020204" pitchFamily="34" charset="0"/>
                <a:cs typeface="Trebuchet MS" panose="020B0603020202020204"/>
              </a:rPr>
              <a:t>Members:</a:t>
            </a:r>
            <a:r>
              <a:rPr lang="en-US" sz="3200" b="1" spc="215" dirty="0" err="1">
                <a:latin typeface="Franklin Gothic Medium" panose="020B0603020102020204" pitchFamily="34" charset="0"/>
                <a:cs typeface="Trebuchet MS" panose="020B0603020202020204"/>
              </a:rPr>
              <a:t>M.Sai</a:t>
            </a:r>
            <a:r>
              <a:rPr lang="en-US" sz="3200" b="1" spc="215" dirty="0">
                <a:latin typeface="Franklin Gothic Medium" panose="020B0603020102020204" pitchFamily="34" charset="0"/>
                <a:cs typeface="Trebuchet MS" panose="020B0603020202020204"/>
              </a:rPr>
              <a:t> viswitha,</a:t>
            </a:r>
            <a:r>
              <a:rPr sz="3200" b="1" spc="215" dirty="0">
                <a:latin typeface="Franklin Gothic Medium" panose="020B0603020102020204" pitchFamily="34" charset="0"/>
                <a:cs typeface="Trebuchet MS" panose="020B0603020202020204"/>
              </a:rPr>
              <a:t> </a:t>
            </a:r>
            <a:r>
              <a:rPr lang="en-US" sz="3200" b="1" spc="215" dirty="0" err="1">
                <a:latin typeface="Franklin Gothic Medium" panose="020B0603020102020204" pitchFamily="34" charset="0"/>
                <a:cs typeface="Trebuchet MS" panose="020B0603020202020204"/>
              </a:rPr>
              <a:t>M.Harshitha,G.Gowri</a:t>
            </a:r>
            <a:endParaRPr lang="en-US" sz="3200" b="1" spc="215" dirty="0">
              <a:latin typeface="Franklin Gothic Medium" panose="020B0603020102020204" pitchFamily="34" charset="0"/>
              <a:cs typeface="Trebuchet MS" panose="020B0603020202020204"/>
            </a:endParaRPr>
          </a:p>
          <a:p>
            <a:pPr marL="12700" marR="5080">
              <a:lnSpc>
                <a:spcPct val="118000"/>
              </a:lnSpc>
              <a:spcBef>
                <a:spcPts val="90"/>
              </a:spcBef>
            </a:pPr>
            <a:r>
              <a:rPr sz="3200" b="1" spc="204" dirty="0">
                <a:latin typeface="Franklin Gothic Medium" panose="020B0603020102020204" pitchFamily="34" charset="0"/>
                <a:cs typeface="Trebuchet MS" panose="020B0603020202020204"/>
              </a:rPr>
              <a:t>College</a:t>
            </a:r>
            <a:r>
              <a:rPr sz="3200" b="1" spc="-50" dirty="0">
                <a:latin typeface="Franklin Gothic Medium" panose="020B0603020102020204" pitchFamily="34" charset="0"/>
                <a:cs typeface="Trebuchet MS" panose="020B0603020202020204"/>
              </a:rPr>
              <a:t> </a:t>
            </a:r>
            <a:r>
              <a:rPr sz="3200" b="1" spc="245" dirty="0">
                <a:latin typeface="Franklin Gothic Medium" panose="020B0603020102020204" pitchFamily="34" charset="0"/>
                <a:cs typeface="Trebuchet MS" panose="020B0603020202020204"/>
              </a:rPr>
              <a:t>Name:</a:t>
            </a:r>
            <a:endParaRPr lang="en-US" sz="3200" b="1" spc="245" dirty="0">
              <a:latin typeface="Franklin Gothic Medium" panose="020B0603020102020204" pitchFamily="34" charset="0"/>
              <a:cs typeface="Trebuchet MS" panose="020B0603020202020204"/>
            </a:endParaRPr>
          </a:p>
          <a:p>
            <a:pPr marL="12700" marR="5080">
              <a:lnSpc>
                <a:spcPct val="118000"/>
              </a:lnSpc>
              <a:spcBef>
                <a:spcPts val="90"/>
              </a:spcBef>
            </a:pPr>
            <a:r>
              <a:rPr lang="en-US" sz="3200" b="1" spc="245" dirty="0">
                <a:latin typeface="Franklin Gothic Medium" panose="020B0603020102020204" pitchFamily="34" charset="0"/>
                <a:cs typeface="Trebuchet MS" panose="020B0603020202020204"/>
              </a:rPr>
              <a:t>Shri Vishnu Engineering College For Women’s</a:t>
            </a:r>
            <a:endParaRPr sz="3200" dirty="0">
              <a:latin typeface="Franklin Gothic Medium" panose="020B0603020102020204" pitchFamily="34" charset="0"/>
              <a:cs typeface="Trebuchet MS" panose="020B0603020202020204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FBC4AC-5B20-DEF4-3A48-662E350C1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2046" y="4302348"/>
            <a:ext cx="2173224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3600" b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LifeLine</a:t>
            </a:r>
            <a:r>
              <a:rPr kumimoji="0" lang="en-US" altLang="en-US" sz="36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IoT-Enabled Accident Detection &amp;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Rescue System</a:t>
            </a:r>
            <a:r>
              <a:rPr kumimoji="0" lang="en-US" altLang="en-US" sz="3600" b="1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two wheelers</a:t>
            </a:r>
            <a:endParaRPr kumimoji="0" lang="en-US" altLang="en-US" sz="36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 descr="A logo with a heart and a shield&#10;&#10;AI-generated content may be incorrect.">
            <a:extLst>
              <a:ext uri="{FF2B5EF4-FFF2-40B4-BE49-F238E27FC236}">
                <a16:creationId xmlns:a16="http://schemas.microsoft.com/office/drawing/2014/main" id="{FDD087F4-A972-343C-79D1-90682D73DA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43" t="8593" r="15624" b="11720"/>
          <a:stretch>
            <a:fillRect/>
          </a:stretch>
        </p:blipFill>
        <p:spPr>
          <a:xfrm>
            <a:off x="518767" y="3926445"/>
            <a:ext cx="5638800" cy="571071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logo with a heart and a shield&#10;&#10;AI-generated content may be incorrect.">
            <a:extLst>
              <a:ext uri="{FF2B5EF4-FFF2-40B4-BE49-F238E27FC236}">
                <a16:creationId xmlns:a16="http://schemas.microsoft.com/office/drawing/2014/main" id="{25B1F4AC-505E-5E77-464F-8B77CFF8393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66700"/>
            <a:ext cx="17678400" cy="97536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57800" y="443970"/>
            <a:ext cx="922020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40" dirty="0">
                <a:latin typeface="Franklin Gothic Medium" panose="020B0603020102020204" pitchFamily="34" charset="0"/>
              </a:rPr>
              <a:t>PROBLEM</a:t>
            </a:r>
            <a:r>
              <a:rPr spc="-135" dirty="0">
                <a:latin typeface="Franklin Gothic Medium" panose="020B0603020102020204" pitchFamily="34" charset="0"/>
              </a:rPr>
              <a:t> </a:t>
            </a:r>
            <a:r>
              <a:rPr spc="320" dirty="0">
                <a:latin typeface="Franklin Gothic Medium" panose="020B0603020102020204" pitchFamily="34" charset="0"/>
              </a:rPr>
              <a:t>STATEMENT</a:t>
            </a:r>
          </a:p>
        </p:txBody>
      </p:sp>
      <p:sp>
        <p:nvSpPr>
          <p:cNvPr id="3" name="object 3"/>
          <p:cNvSpPr/>
          <p:nvPr/>
        </p:nvSpPr>
        <p:spPr>
          <a:xfrm>
            <a:off x="705082" y="1771873"/>
            <a:ext cx="16923385" cy="0"/>
          </a:xfrm>
          <a:custGeom>
            <a:avLst/>
            <a:gdLst/>
            <a:ahLst/>
            <a:cxnLst/>
            <a:rect l="l" t="t" r="r" b="b"/>
            <a:pathLst>
              <a:path w="16923385">
                <a:moveTo>
                  <a:pt x="0" y="0"/>
                </a:moveTo>
                <a:lnTo>
                  <a:pt x="16923372" y="0"/>
                </a:lnTo>
              </a:path>
            </a:pathLst>
          </a:custGeom>
          <a:ln w="66674">
            <a:solidFill>
              <a:srgbClr val="B590BE"/>
            </a:solidFill>
          </a:ln>
        </p:spPr>
        <p:txBody>
          <a:bodyPr wrap="square" lIns="0" tIns="0" rIns="0" bIns="0" rtlCol="0"/>
          <a:lstStyle/>
          <a:p>
            <a:endParaRPr>
              <a:latin typeface="Franklin Gothic Medium" panose="020B060302010202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9600" y="2312377"/>
            <a:ext cx="11533621" cy="7573868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40"/>
              </a:spcBef>
              <a:buFont typeface="Arial" panose="020B0604020202020204" pitchFamily="34" charset="0"/>
              <a:buChar char="•"/>
            </a:pPr>
            <a:r>
              <a:rPr lang="en-US" sz="3200" b="1" dirty="0"/>
              <a:t>Two-wheeler accidents become deadly mainly due to delayed medical help, the victim’s inability to call for assistance, and the lack of reliable emergency alert systems.</a:t>
            </a:r>
          </a:p>
          <a:p>
            <a:pPr marL="469900" indent="-457200">
              <a:lnSpc>
                <a:spcPct val="100000"/>
              </a:lnSpc>
              <a:spcBef>
                <a:spcPts val="140"/>
              </a:spcBef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69900" indent="-457200">
              <a:lnSpc>
                <a:spcPct val="100000"/>
              </a:lnSpc>
              <a:spcBef>
                <a:spcPts val="140"/>
              </a:spcBef>
              <a:buFont typeface="Wingdings" panose="05000000000000000000" pitchFamily="2" charset="2"/>
              <a:buChar char="Ø"/>
            </a:pPr>
            <a:r>
              <a:rPr lang="en-US" sz="3600" u="sng" dirty="0">
                <a:latin typeface="Franklin Gothic Medium" panose="020B0603020102020204" pitchFamily="34" charset="0"/>
                <a:cs typeface="Trebuchet MS" panose="020B0603020202020204"/>
              </a:rPr>
              <a:t>Key Issues :</a:t>
            </a:r>
            <a:endParaRPr sz="3600" u="sng" dirty="0">
              <a:latin typeface="Franklin Gothic Medium" panose="020B0603020102020204" pitchFamily="34" charset="0"/>
              <a:cs typeface="Trebuchet MS" panose="020B0603020202020204"/>
            </a:endParaRPr>
          </a:p>
          <a:p>
            <a:pPr marL="469900" indent="-457200">
              <a:lnSpc>
                <a:spcPct val="100000"/>
              </a:lnSpc>
              <a:spcBef>
                <a:spcPts val="2190"/>
              </a:spcBef>
              <a:buFont typeface="Arial" panose="020B0604020202020204" pitchFamily="34" charset="0"/>
              <a:buChar char="•"/>
            </a:pPr>
            <a:r>
              <a:rPr lang="en-US" sz="2800" b="1" spc="245" dirty="0">
                <a:latin typeface="Franklin Gothic Medium" panose="020B0603020102020204" pitchFamily="34" charset="0"/>
                <a:cs typeface="Trebuchet MS" panose="020B0603020202020204"/>
              </a:rPr>
              <a:t>High Vulnerability: </a:t>
            </a:r>
            <a:r>
              <a:rPr lang="en-US" sz="2800" spc="245" dirty="0">
                <a:latin typeface="Franklin Gothic Medium" panose="020B0603020102020204" pitchFamily="34" charset="0"/>
                <a:cs typeface="Trebuchet MS" panose="020B0603020202020204"/>
              </a:rPr>
              <a:t>Two-wheeler riders are more exposed to accidents.</a:t>
            </a:r>
          </a:p>
          <a:p>
            <a:pPr marL="469900" indent="-457200">
              <a:lnSpc>
                <a:spcPct val="100000"/>
              </a:lnSpc>
              <a:spcBef>
                <a:spcPts val="2190"/>
              </a:spcBef>
              <a:buFont typeface="Arial" panose="020B0604020202020204" pitchFamily="34" charset="0"/>
              <a:buChar char="•"/>
            </a:pPr>
            <a:r>
              <a:rPr lang="en-US" sz="2800" b="1" spc="245" dirty="0">
                <a:latin typeface="Franklin Gothic Medium" panose="020B0603020102020204" pitchFamily="34" charset="0"/>
                <a:cs typeface="Trebuchet MS" panose="020B0603020202020204"/>
              </a:rPr>
              <a:t>Delayed Medical Help: </a:t>
            </a:r>
            <a:r>
              <a:rPr lang="en-US" sz="2800" spc="245" dirty="0">
                <a:latin typeface="Franklin Gothic Medium" panose="020B0603020102020204" pitchFamily="34" charset="0"/>
                <a:cs typeface="Trebuchet MS" panose="020B0603020202020204"/>
              </a:rPr>
              <a:t>Many lives are lost due to slow emergency response.</a:t>
            </a:r>
          </a:p>
          <a:p>
            <a:pPr marL="469900" indent="-457200">
              <a:lnSpc>
                <a:spcPct val="100000"/>
              </a:lnSpc>
              <a:spcBef>
                <a:spcPts val="2190"/>
              </a:spcBef>
              <a:buFont typeface="Arial" panose="020B0604020202020204" pitchFamily="34" charset="0"/>
              <a:buChar char="•"/>
            </a:pPr>
            <a:r>
              <a:rPr lang="en-US" sz="2800" b="1" spc="245" dirty="0">
                <a:latin typeface="Franklin Gothic Medium" panose="020B0603020102020204" pitchFamily="34" charset="0"/>
                <a:cs typeface="Trebuchet MS" panose="020B0603020202020204"/>
              </a:rPr>
              <a:t>Communication Gap: </a:t>
            </a:r>
            <a:r>
              <a:rPr lang="en-US" sz="2800" spc="245" dirty="0">
                <a:latin typeface="Franklin Gothic Medium" panose="020B0603020102020204" pitchFamily="34" charset="0"/>
                <a:cs typeface="Trebuchet MS" panose="020B0603020202020204"/>
              </a:rPr>
              <a:t>Victims often cannot call for help, and bystanders may not respond quickly</a:t>
            </a:r>
          </a:p>
          <a:p>
            <a:pPr marL="469900" indent="-457200">
              <a:lnSpc>
                <a:spcPct val="100000"/>
              </a:lnSpc>
              <a:spcBef>
                <a:spcPts val="2190"/>
              </a:spcBef>
              <a:buFont typeface="Arial" panose="020B0604020202020204" pitchFamily="34" charset="0"/>
              <a:buChar char="•"/>
            </a:pPr>
            <a:r>
              <a:rPr lang="en-US" sz="2800" b="1" spc="245" dirty="0">
                <a:latin typeface="Franklin Gothic Medium" panose="020B0603020102020204" pitchFamily="34" charset="0"/>
                <a:cs typeface="Trebuchet MS" panose="020B0603020202020204"/>
              </a:rPr>
              <a:t>Privacy Concerns: </a:t>
            </a:r>
            <a:r>
              <a:rPr lang="en-US" sz="2800" spc="245" dirty="0">
                <a:latin typeface="Franklin Gothic Medium" panose="020B0603020102020204" pitchFamily="34" charset="0"/>
                <a:cs typeface="Trebuchet MS" panose="020B0603020202020204"/>
              </a:rPr>
              <a:t>Existing alert systems broadcast widely, risking user privacy</a:t>
            </a:r>
            <a:endParaRPr sz="2800" dirty="0">
              <a:latin typeface="Franklin Gothic Medium" panose="020B0603020102020204" pitchFamily="34" charset="0"/>
              <a:cs typeface="Trebuchet MS" panose="020B0603020202020204"/>
            </a:endParaRPr>
          </a:p>
        </p:txBody>
      </p:sp>
      <p:pic>
        <p:nvPicPr>
          <p:cNvPr id="13" name="Picture 12" descr="A person lying on a scooter&#10;&#10;AI-generated content may be incorrect.">
            <a:extLst>
              <a:ext uri="{FF2B5EF4-FFF2-40B4-BE49-F238E27FC236}">
                <a16:creationId xmlns:a16="http://schemas.microsoft.com/office/drawing/2014/main" id="{1CFC8AE8-FED3-B8F4-469D-672B80FC97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4" t="7812" r="10156" b="20312"/>
          <a:stretch>
            <a:fillRect/>
          </a:stretch>
        </p:blipFill>
        <p:spPr>
          <a:xfrm>
            <a:off x="12143221" y="3209741"/>
            <a:ext cx="5763779" cy="5098727"/>
          </a:xfrm>
          <a:prstGeom prst="rect">
            <a:avLst/>
          </a:prstGeom>
        </p:spPr>
      </p:pic>
      <p:pic>
        <p:nvPicPr>
          <p:cNvPr id="6" name="Picture 5" descr="A logo with a heart and a shield&#10;&#10;AI-generated content may be incorrect.">
            <a:extLst>
              <a:ext uri="{FF2B5EF4-FFF2-40B4-BE49-F238E27FC236}">
                <a16:creationId xmlns:a16="http://schemas.microsoft.com/office/drawing/2014/main" id="{204E388A-043F-DACE-E900-5794BC932FC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082" y="37571"/>
            <a:ext cx="3657600" cy="160019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logo with a heart and a shield&#10;&#10;AI-generated content may be incorrect.">
            <a:extLst>
              <a:ext uri="{FF2B5EF4-FFF2-40B4-BE49-F238E27FC236}">
                <a16:creationId xmlns:a16="http://schemas.microsoft.com/office/drawing/2014/main" id="{84A25639-85DF-3E75-180E-176D78F164F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4666"/>
            <a:ext cx="18605463" cy="11424166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7696200" y="571504"/>
            <a:ext cx="777684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25" dirty="0">
                <a:latin typeface="Franklin Gothic Medium" panose="020B0603020102020204" pitchFamily="34" charset="0"/>
              </a:rPr>
              <a:t>SCOPE</a:t>
            </a:r>
          </a:p>
        </p:txBody>
      </p:sp>
      <p:sp>
        <p:nvSpPr>
          <p:cNvPr id="3" name="object 3"/>
          <p:cNvSpPr/>
          <p:nvPr/>
        </p:nvSpPr>
        <p:spPr>
          <a:xfrm>
            <a:off x="705082" y="1771873"/>
            <a:ext cx="16923385" cy="0"/>
          </a:xfrm>
          <a:custGeom>
            <a:avLst/>
            <a:gdLst/>
            <a:ahLst/>
            <a:cxnLst/>
            <a:rect l="l" t="t" r="r" b="b"/>
            <a:pathLst>
              <a:path w="16923385">
                <a:moveTo>
                  <a:pt x="0" y="0"/>
                </a:moveTo>
                <a:lnTo>
                  <a:pt x="16923372" y="0"/>
                </a:lnTo>
              </a:path>
            </a:pathLst>
          </a:custGeom>
          <a:ln w="66674">
            <a:solidFill>
              <a:srgbClr val="B590BE"/>
            </a:solidFill>
          </a:ln>
        </p:spPr>
        <p:txBody>
          <a:bodyPr wrap="square" lIns="0" tIns="0" rIns="0" bIns="0" rtlCol="0"/>
          <a:lstStyle/>
          <a:p>
            <a:endParaRPr>
              <a:latin typeface="Franklin Gothic Medium" panose="020B060302010202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153" y="1900639"/>
            <a:ext cx="11897205" cy="1129540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Most victims cannot raise an alarm after an accident 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Two-wheelers form the backbone of daily transport, yet they account for the </a:t>
            </a:r>
            <a:r>
              <a:rPr lang="en-US" sz="2800" i="1" dirty="0"/>
              <a:t>largest share of road accident deaths.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u="sng" dirty="0"/>
              <a:t>Relevance 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Threatens millions of daily riders, especially in developing countries.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Causes avoidable deaths and disabilities due to late treatment.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Creates social and economic losses for families and communities</a:t>
            </a:r>
            <a:endParaRPr lang="en-US" sz="2800" u="sng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b="1" u="sng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u="sng" dirty="0"/>
              <a:t>Global reference 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 2024, India reported </a:t>
            </a:r>
            <a:r>
              <a:rPr lang="en-US" sz="2800" b="1" dirty="0"/>
              <a:t>~180,000 </a:t>
            </a:r>
            <a:r>
              <a:rPr lang="en-US" sz="2800" dirty="0"/>
              <a:t>total road accident deaths.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u="sng" dirty="0"/>
              <a:t> </a:t>
            </a:r>
            <a:r>
              <a:rPr lang="en-IN" sz="3200" b="1" u="sng" dirty="0"/>
              <a:t>Scope :</a:t>
            </a:r>
            <a:endParaRPr lang="en-US" sz="3200" b="1" u="sng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Two-wheelers accounted for </a:t>
            </a:r>
            <a:r>
              <a:rPr lang="en-US" sz="2800" b="1" dirty="0"/>
              <a:t>45% </a:t>
            </a:r>
            <a:r>
              <a:rPr lang="en-US" sz="2800" dirty="0"/>
              <a:t>of total road accident deaths in India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 study reported by the Indian Road Transport Minister that </a:t>
            </a:r>
            <a:r>
              <a:rPr lang="en-US" sz="2800" b="1" dirty="0"/>
              <a:t>nearly 30%</a:t>
            </a:r>
            <a:r>
              <a:rPr lang="en-US" sz="2800" dirty="0"/>
              <a:t> of road‐accident deaths are due to delay in getting medical care during</a:t>
            </a:r>
            <a:r>
              <a:rPr lang="en-US" sz="2800" i="1" dirty="0"/>
              <a:t> </a:t>
            </a:r>
            <a:r>
              <a:rPr lang="en-US" sz="2800" dirty="0"/>
              <a:t>the</a:t>
            </a:r>
            <a:r>
              <a:rPr lang="en-US" sz="2800" i="1" dirty="0"/>
              <a:t> “</a:t>
            </a:r>
            <a:r>
              <a:rPr lang="en-US" sz="2800" b="1" i="1" dirty="0"/>
              <a:t>golden hour”</a:t>
            </a:r>
            <a:endParaRPr lang="en-US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This makes two-wheelers the most vulnerable and highest contributor</a:t>
            </a:r>
          </a:p>
          <a:p>
            <a:r>
              <a:rPr lang="en-US" sz="2800" dirty="0"/>
              <a:t>to accident fatalities compared to cars and other vehicles 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endParaRPr sz="2800" dirty="0">
              <a:latin typeface="Franklin Gothic Medium" panose="020B0603020102020204" pitchFamily="34" charset="0"/>
              <a:cs typeface="Trebuchet MS" panose="020B0603020202020204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C0850C2-C9C6-C1E1-6FC9-7A2B05ECC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4BDE541-D226-9D95-84D5-554D56EE1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395" y="1714610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7" name="Picture 6" descr="A graph of a road accident&#10;&#10;AI-generated content may be incorrect.">
            <a:extLst>
              <a:ext uri="{FF2B5EF4-FFF2-40B4-BE49-F238E27FC236}">
                <a16:creationId xmlns:a16="http://schemas.microsoft.com/office/drawing/2014/main" id="{970569A0-9745-902F-77C7-714E2BBBBB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9600" y="2552701"/>
            <a:ext cx="6248400" cy="7162795"/>
          </a:xfrm>
          <a:prstGeom prst="rect">
            <a:avLst/>
          </a:prstGeom>
        </p:spPr>
      </p:pic>
      <p:pic>
        <p:nvPicPr>
          <p:cNvPr id="10" name="Picture 9" descr="A logo with a heart and a shield&#10;&#10;AI-generated content may be incorrect.">
            <a:extLst>
              <a:ext uri="{FF2B5EF4-FFF2-40B4-BE49-F238E27FC236}">
                <a16:creationId xmlns:a16="http://schemas.microsoft.com/office/drawing/2014/main" id="{48ABBB0B-1B3C-FF23-C432-953A6D3EF24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082" y="0"/>
            <a:ext cx="3714518" cy="16383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logo with a heart and a shield&#10;&#10;AI-generated content may be incorrect.">
            <a:extLst>
              <a:ext uri="{FF2B5EF4-FFF2-40B4-BE49-F238E27FC236}">
                <a16:creationId xmlns:a16="http://schemas.microsoft.com/office/drawing/2014/main" id="{562070A2-8859-E0A7-8A9C-BC1E8D98E41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8100"/>
            <a:ext cx="18288000" cy="105918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5638800" y="409483"/>
            <a:ext cx="777684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50" dirty="0">
                <a:latin typeface="Franklin Gothic Medium" panose="020B0603020102020204" pitchFamily="34" charset="0"/>
              </a:rPr>
              <a:t>SOLUTION</a:t>
            </a:r>
            <a:r>
              <a:rPr spc="-130" dirty="0">
                <a:latin typeface="Franklin Gothic Medium" panose="020B0603020102020204" pitchFamily="34" charset="0"/>
              </a:rPr>
              <a:t> </a:t>
            </a:r>
            <a:r>
              <a:rPr spc="515" dirty="0">
                <a:latin typeface="Franklin Gothic Medium" panose="020B0603020102020204" pitchFamily="34" charset="0"/>
              </a:rPr>
              <a:t>OVERVIEW</a:t>
            </a:r>
          </a:p>
        </p:txBody>
      </p:sp>
      <p:sp>
        <p:nvSpPr>
          <p:cNvPr id="3" name="object 3"/>
          <p:cNvSpPr/>
          <p:nvPr/>
        </p:nvSpPr>
        <p:spPr>
          <a:xfrm>
            <a:off x="705082" y="1771873"/>
            <a:ext cx="16923385" cy="0"/>
          </a:xfrm>
          <a:custGeom>
            <a:avLst/>
            <a:gdLst/>
            <a:ahLst/>
            <a:cxnLst/>
            <a:rect l="l" t="t" r="r" b="b"/>
            <a:pathLst>
              <a:path w="16923385">
                <a:moveTo>
                  <a:pt x="0" y="0"/>
                </a:moveTo>
                <a:lnTo>
                  <a:pt x="16923372" y="0"/>
                </a:lnTo>
              </a:path>
            </a:pathLst>
          </a:custGeom>
          <a:ln w="66674">
            <a:solidFill>
              <a:srgbClr val="B590BE"/>
            </a:solidFill>
          </a:ln>
        </p:spPr>
        <p:txBody>
          <a:bodyPr wrap="square" lIns="0" tIns="0" rIns="0" bIns="0" rtlCol="0"/>
          <a:lstStyle/>
          <a:p>
            <a:endParaRPr>
              <a:latin typeface="Franklin Gothic Medium" panose="020B060302010202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1000" y="2400300"/>
            <a:ext cx="9525000" cy="729430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/>
              <a:t> Our Innovative Solution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 safety device for two-wheelers that can detect accidents automatically.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It uses sensors and esp32 to check impact, bike tilt, sudden stop, heartbeat, and pulse rate 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When an accident happens, it immediately sends an alert with location to: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/>
              <a:t> Family &amp; friends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/>
              <a:t>Nearby hospitals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/>
              <a:t>Other app users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If the phone is broken or missing, the device uses GSM to send an SMS.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This ensures help always reaches on time, improving survival chances.</a:t>
            </a: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endParaRPr sz="2800" dirty="0">
              <a:latin typeface="Franklin Gothic Medium" panose="020B0603020102020204" pitchFamily="34" charset="0"/>
              <a:cs typeface="Trebuchet MS" panose="020B0603020202020204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E581F7-EA3A-575B-C628-67FFAC993C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31" t="5469" r="8594" b="6250"/>
          <a:stretch>
            <a:fillRect/>
          </a:stretch>
        </p:blipFill>
        <p:spPr>
          <a:xfrm>
            <a:off x="10210800" y="2180175"/>
            <a:ext cx="7239000" cy="7024740"/>
          </a:xfrm>
          <a:prstGeom prst="rect">
            <a:avLst/>
          </a:prstGeom>
        </p:spPr>
      </p:pic>
      <p:pic>
        <p:nvPicPr>
          <p:cNvPr id="6" name="Picture 5" descr="A logo with a heart and a shield&#10;&#10;AI-generated content may be incorrect.">
            <a:extLst>
              <a:ext uri="{FF2B5EF4-FFF2-40B4-BE49-F238E27FC236}">
                <a16:creationId xmlns:a16="http://schemas.microsoft.com/office/drawing/2014/main" id="{FFE7C9B8-8564-EF21-66DB-2B88BE98773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082" y="0"/>
            <a:ext cx="3257318" cy="167948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logo with a heart and a shield&#10;&#10;AI-generated content may be incorrect.">
            <a:extLst>
              <a:ext uri="{FF2B5EF4-FFF2-40B4-BE49-F238E27FC236}">
                <a16:creationId xmlns:a16="http://schemas.microsoft.com/office/drawing/2014/main" id="{E4B83A54-A968-A2AD-48F3-7B083B89A71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66700"/>
            <a:ext cx="18669000" cy="121920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33900" y="517162"/>
            <a:ext cx="922020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65" dirty="0">
                <a:latin typeface="Franklin Gothic Medium" panose="020B0603020102020204" pitchFamily="34" charset="0"/>
              </a:rPr>
              <a:t>TECHNICAL</a:t>
            </a:r>
            <a:r>
              <a:rPr spc="-125" dirty="0">
                <a:latin typeface="Franklin Gothic Medium" panose="020B0603020102020204" pitchFamily="34" charset="0"/>
              </a:rPr>
              <a:t> </a:t>
            </a:r>
            <a:r>
              <a:rPr spc="560" dirty="0">
                <a:latin typeface="Franklin Gothic Medium" panose="020B0603020102020204" pitchFamily="34" charset="0"/>
              </a:rPr>
              <a:t>APPROACH</a:t>
            </a:r>
          </a:p>
        </p:txBody>
      </p:sp>
      <p:sp>
        <p:nvSpPr>
          <p:cNvPr id="3" name="object 3"/>
          <p:cNvSpPr/>
          <p:nvPr/>
        </p:nvSpPr>
        <p:spPr>
          <a:xfrm>
            <a:off x="705082" y="1771873"/>
            <a:ext cx="16923385" cy="0"/>
          </a:xfrm>
          <a:custGeom>
            <a:avLst/>
            <a:gdLst/>
            <a:ahLst/>
            <a:cxnLst/>
            <a:rect l="l" t="t" r="r" b="b"/>
            <a:pathLst>
              <a:path w="16923385">
                <a:moveTo>
                  <a:pt x="0" y="0"/>
                </a:moveTo>
                <a:lnTo>
                  <a:pt x="16923372" y="0"/>
                </a:lnTo>
              </a:path>
            </a:pathLst>
          </a:custGeom>
          <a:ln w="66674">
            <a:solidFill>
              <a:srgbClr val="B590BE"/>
            </a:solidFill>
          </a:ln>
        </p:spPr>
        <p:txBody>
          <a:bodyPr wrap="square" lIns="0" tIns="0" rIns="0" bIns="0" rtlCol="0"/>
          <a:lstStyle/>
          <a:p>
            <a:endParaRPr>
              <a:latin typeface="Franklin Gothic Medium" panose="020B060302010202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4800" y="2326597"/>
            <a:ext cx="11049000" cy="741741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/>
              <a:t>Technologies &amp; Methods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800" b="1" dirty="0"/>
              <a:t> Hardware</a:t>
            </a:r>
            <a:endParaRPr lang="en-IN" sz="2800" dirty="0"/>
          </a:p>
          <a:p>
            <a:r>
              <a:rPr lang="en-IN" sz="2800" b="1" dirty="0"/>
              <a:t>Sensors</a:t>
            </a:r>
            <a:r>
              <a:rPr lang="en-IN" sz="2800" dirty="0"/>
              <a:t>: Accelerometer, Gyroscope, Heartbeat &amp; Pulse, load sensor</a:t>
            </a:r>
          </a:p>
          <a:p>
            <a:r>
              <a:rPr lang="en-IN" sz="2800" b="1" dirty="0"/>
              <a:t>Microcontroller</a:t>
            </a:r>
            <a:r>
              <a:rPr lang="en-IN" sz="2800" dirty="0"/>
              <a:t>: ESP32 for processing data and triggering alerts.</a:t>
            </a:r>
          </a:p>
          <a:p>
            <a:r>
              <a:rPr lang="en-IN" sz="2800" b="1" dirty="0"/>
              <a:t>GSM Module</a:t>
            </a:r>
            <a:r>
              <a:rPr lang="en-IN" sz="2800" dirty="0"/>
              <a:t>: For SMS alerts when phone is unavailable.</a:t>
            </a:r>
          </a:p>
          <a:p>
            <a:r>
              <a:rPr lang="en-IN" sz="2800" b="1" dirty="0"/>
              <a:t>GPS Module</a:t>
            </a:r>
            <a:r>
              <a:rPr lang="en-IN" sz="2800" dirty="0"/>
              <a:t>: To track and share live location.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800" b="1" dirty="0"/>
              <a:t> Software</a:t>
            </a:r>
            <a:endParaRPr lang="en-IN" sz="2800" dirty="0"/>
          </a:p>
          <a:p>
            <a:r>
              <a:rPr lang="en-IN" sz="2800" b="1" dirty="0"/>
              <a:t>Mobile App</a:t>
            </a:r>
            <a:r>
              <a:rPr lang="en-IN" sz="2800" dirty="0"/>
              <a:t>: Receives alerts, shares location, notifies family &amp; hospitals.</a:t>
            </a:r>
          </a:p>
          <a:p>
            <a:r>
              <a:rPr lang="en-IN" sz="2800" b="1" dirty="0"/>
              <a:t>IoT Integration</a:t>
            </a:r>
            <a:r>
              <a:rPr lang="en-IN" sz="2800" dirty="0"/>
              <a:t>: Real-time communication between device, app, and servers.</a:t>
            </a:r>
          </a:p>
          <a:p>
            <a:r>
              <a:rPr lang="en-IN" sz="2800" b="1" dirty="0"/>
              <a:t>Data Processing</a:t>
            </a:r>
            <a:r>
              <a:rPr lang="en-IN" sz="2800" dirty="0"/>
              <a:t>: Accident severity analysis using sensor inputs.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800" b="1" dirty="0"/>
              <a:t> Methodology</a:t>
            </a:r>
            <a:endParaRPr lang="en-IN" sz="2800" dirty="0"/>
          </a:p>
          <a:p>
            <a:r>
              <a:rPr lang="en-IN" sz="2800" dirty="0"/>
              <a:t>Accident detection → Data analysis → Automatic alert → Emergency response.</a:t>
            </a:r>
          </a:p>
          <a:p>
            <a:r>
              <a:rPr lang="en-IN" sz="2800" dirty="0"/>
              <a:t>Focus on real-time action, reliability, and scalability.</a:t>
            </a: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endParaRPr sz="2800" dirty="0">
              <a:latin typeface="Franklin Gothic Medium" panose="020B0603020102020204" pitchFamily="34" charset="0"/>
              <a:cs typeface="Trebuchet MS" panose="020B0603020202020204"/>
            </a:endParaRPr>
          </a:p>
        </p:txBody>
      </p:sp>
      <p:pic>
        <p:nvPicPr>
          <p:cNvPr id="9" name="Picture 8" descr="A diagram of a gps location&#10;&#10;AI-generated content may be incorrect.">
            <a:extLst>
              <a:ext uri="{FF2B5EF4-FFF2-40B4-BE49-F238E27FC236}">
                <a16:creationId xmlns:a16="http://schemas.microsoft.com/office/drawing/2014/main" id="{FC2E4DBF-4776-AE78-BB42-759EC83C3A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99" t="9139" r="7001" b="16229"/>
          <a:stretch>
            <a:fillRect/>
          </a:stretch>
        </p:blipFill>
        <p:spPr>
          <a:xfrm>
            <a:off x="11369040" y="2213359"/>
            <a:ext cx="6918960" cy="3733787"/>
          </a:xfrm>
          <a:prstGeom prst="rect">
            <a:avLst/>
          </a:prstGeom>
        </p:spPr>
      </p:pic>
      <p:pic>
        <p:nvPicPr>
          <p:cNvPr id="12" name="Picture 11" descr="A diagram of a circuit board&#10;&#10;AI-generated content may be incorrect.">
            <a:extLst>
              <a:ext uri="{FF2B5EF4-FFF2-40B4-BE49-F238E27FC236}">
                <a16:creationId xmlns:a16="http://schemas.microsoft.com/office/drawing/2014/main" id="{3DA49813-16A0-2BEA-7511-11AAD6160E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9040" y="5947146"/>
            <a:ext cx="6918960" cy="4351583"/>
          </a:xfrm>
          <a:prstGeom prst="rect">
            <a:avLst/>
          </a:prstGeom>
        </p:spPr>
      </p:pic>
      <p:pic>
        <p:nvPicPr>
          <p:cNvPr id="14" name="Picture 13" descr="A logo with a heart and a shield&#10;&#10;AI-generated content may be incorrect.">
            <a:extLst>
              <a:ext uri="{FF2B5EF4-FFF2-40B4-BE49-F238E27FC236}">
                <a16:creationId xmlns:a16="http://schemas.microsoft.com/office/drawing/2014/main" id="{A3B1916C-581B-3F59-0B6E-BA026980C07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082" y="0"/>
            <a:ext cx="3409718" cy="167037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00800" y="426720"/>
            <a:ext cx="922020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455" dirty="0">
                <a:latin typeface="Franklin Gothic Medium" panose="020B0603020102020204" pitchFamily="34" charset="0"/>
              </a:rPr>
              <a:t>WORK FLOW</a:t>
            </a:r>
            <a:endParaRPr spc="445" dirty="0">
              <a:latin typeface="Franklin Gothic Medium" panose="020B0603020102020204" pitchFamily="34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05082" y="1771873"/>
            <a:ext cx="16923385" cy="0"/>
          </a:xfrm>
          <a:custGeom>
            <a:avLst/>
            <a:gdLst/>
            <a:ahLst/>
            <a:cxnLst/>
            <a:rect l="l" t="t" r="r" b="b"/>
            <a:pathLst>
              <a:path w="16923385">
                <a:moveTo>
                  <a:pt x="0" y="0"/>
                </a:moveTo>
                <a:lnTo>
                  <a:pt x="16923372" y="0"/>
                </a:lnTo>
              </a:path>
            </a:pathLst>
          </a:custGeom>
          <a:ln w="66674">
            <a:solidFill>
              <a:srgbClr val="B590BE"/>
            </a:solidFill>
          </a:ln>
        </p:spPr>
        <p:txBody>
          <a:bodyPr wrap="square" lIns="0" tIns="0" rIns="0" bIns="0" rtlCol="0"/>
          <a:lstStyle/>
          <a:p>
            <a:endParaRPr>
              <a:latin typeface="Franklin Gothic Medium" panose="020B0603020102020204" pitchFamily="34" charset="0"/>
            </a:endParaRPr>
          </a:p>
        </p:txBody>
      </p:sp>
      <p:pic>
        <p:nvPicPr>
          <p:cNvPr id="14" name="Picture 13" descr="A diagram of a diagram&#10;&#10;AI-generated content may be incorrect.">
            <a:extLst>
              <a:ext uri="{FF2B5EF4-FFF2-40B4-BE49-F238E27FC236}">
                <a16:creationId xmlns:a16="http://schemas.microsoft.com/office/drawing/2014/main" id="{95D8B766-4D21-8A36-8866-3A36AE3AA9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71874"/>
            <a:ext cx="18135600" cy="8515126"/>
          </a:xfrm>
          <a:prstGeom prst="rect">
            <a:avLst/>
          </a:prstGeom>
        </p:spPr>
      </p:pic>
      <p:pic>
        <p:nvPicPr>
          <p:cNvPr id="5" name="Picture 4" descr="A logo with a heart and a shield&#10;&#10;AI-generated content may be incorrect.">
            <a:extLst>
              <a:ext uri="{FF2B5EF4-FFF2-40B4-BE49-F238E27FC236}">
                <a16:creationId xmlns:a16="http://schemas.microsoft.com/office/drawing/2014/main" id="{C77820A5-F1B4-7322-7214-F33287D3F6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322" y="7620"/>
            <a:ext cx="3242078" cy="16256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5462257" y="515423"/>
            <a:ext cx="777684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59" dirty="0">
                <a:latin typeface="Franklin Gothic Medium" panose="020B0603020102020204" pitchFamily="34" charset="0"/>
              </a:rPr>
              <a:t>IMPACT</a:t>
            </a:r>
            <a:r>
              <a:rPr spc="-135" dirty="0">
                <a:latin typeface="Franklin Gothic Medium" panose="020B0603020102020204" pitchFamily="34" charset="0"/>
              </a:rPr>
              <a:t> </a:t>
            </a:r>
            <a:r>
              <a:rPr spc="640" dirty="0">
                <a:latin typeface="Franklin Gothic Medium" panose="020B0603020102020204" pitchFamily="34" charset="0"/>
              </a:rPr>
              <a:t>AND</a:t>
            </a:r>
            <a:r>
              <a:rPr spc="-130" dirty="0">
                <a:latin typeface="Franklin Gothic Medium" panose="020B0603020102020204" pitchFamily="34" charset="0"/>
              </a:rPr>
              <a:t> </a:t>
            </a:r>
            <a:r>
              <a:rPr spc="220" dirty="0">
                <a:latin typeface="Franklin Gothic Medium" panose="020B0603020102020204" pitchFamily="34" charset="0"/>
              </a:rPr>
              <a:t>BENEFITS</a:t>
            </a:r>
          </a:p>
        </p:txBody>
      </p:sp>
      <p:sp>
        <p:nvSpPr>
          <p:cNvPr id="3" name="object 3"/>
          <p:cNvSpPr/>
          <p:nvPr/>
        </p:nvSpPr>
        <p:spPr>
          <a:xfrm>
            <a:off x="705082" y="1771873"/>
            <a:ext cx="16923385" cy="0"/>
          </a:xfrm>
          <a:custGeom>
            <a:avLst/>
            <a:gdLst/>
            <a:ahLst/>
            <a:cxnLst/>
            <a:rect l="l" t="t" r="r" b="b"/>
            <a:pathLst>
              <a:path w="16923385">
                <a:moveTo>
                  <a:pt x="0" y="0"/>
                </a:moveTo>
                <a:lnTo>
                  <a:pt x="16923372" y="0"/>
                </a:lnTo>
              </a:path>
            </a:pathLst>
          </a:custGeom>
          <a:ln w="66674">
            <a:solidFill>
              <a:srgbClr val="B590BE"/>
            </a:solidFill>
          </a:ln>
        </p:spPr>
        <p:txBody>
          <a:bodyPr wrap="square" lIns="0" tIns="0" rIns="0" bIns="0" rtlCol="0"/>
          <a:lstStyle/>
          <a:p>
            <a:endParaRPr>
              <a:latin typeface="Franklin Gothic Medium" panose="020B060302010202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5405" y="2634624"/>
            <a:ext cx="7777480" cy="44884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endParaRPr sz="2800" dirty="0">
              <a:latin typeface="Franklin Gothic Medium" panose="020B0603020102020204" pitchFamily="34" charset="0"/>
              <a:cs typeface="Trebuchet MS" panose="020B0603020202020204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6141E08-F696-685B-AC0C-F24F883B7E88}"/>
              </a:ext>
            </a:extLst>
          </p:cNvPr>
          <p:cNvSpPr/>
          <p:nvPr/>
        </p:nvSpPr>
        <p:spPr>
          <a:xfrm>
            <a:off x="1208722" y="2213372"/>
            <a:ext cx="7391400" cy="7696198"/>
          </a:xfrm>
          <a:prstGeom prst="round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u="sng" spc="459" dirty="0">
                <a:latin typeface="Franklin Gothic Medium" panose="020B0603020102020204" pitchFamily="34" charset="0"/>
              </a:rPr>
              <a:t>IMPACT</a:t>
            </a:r>
          </a:p>
          <a:p>
            <a:pPr algn="ctr"/>
            <a:endParaRPr lang="en-IN" sz="1100" u="sng" spc="459" dirty="0">
              <a:latin typeface="Franklin Gothic Medium" panose="020B0603020102020204" pitchFamily="34" charset="0"/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IN" sz="4000" b="1" dirty="0"/>
              <a:t>Two-wheeler riders-</a:t>
            </a:r>
            <a:r>
              <a:rPr lang="en-US" sz="4000" b="1" dirty="0"/>
              <a:t> </a:t>
            </a:r>
            <a:r>
              <a:rPr lang="en-US" sz="3200" dirty="0"/>
              <a:t>Directly protected by automatic accident alerts.</a:t>
            </a:r>
            <a:endParaRPr lang="en-IN" sz="3200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IN" sz="4000" b="1" dirty="0"/>
              <a:t>Families</a:t>
            </a:r>
            <a:r>
              <a:rPr lang="en-IN" sz="4000" dirty="0"/>
              <a:t>-</a:t>
            </a:r>
            <a:r>
              <a:rPr lang="en-US" sz="4000" dirty="0"/>
              <a:t> </a:t>
            </a:r>
            <a:r>
              <a:rPr lang="en-US" sz="3600" dirty="0"/>
              <a:t>Receive quick updates about their loved ones.</a:t>
            </a:r>
            <a:endParaRPr lang="en-IN" sz="3600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IN" sz="4000" b="1" dirty="0"/>
              <a:t>Hospitals &amp; responders-</a:t>
            </a:r>
            <a:r>
              <a:rPr lang="en-US" sz="4000" b="1" dirty="0"/>
              <a:t> </a:t>
            </a:r>
            <a:r>
              <a:rPr lang="en-US" sz="3600" dirty="0"/>
              <a:t>Get early information, improving rescue efficiency.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IN" sz="44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423876F-58EF-43C5-B710-5FD948CDFCA1}"/>
              </a:ext>
            </a:extLst>
          </p:cNvPr>
          <p:cNvSpPr/>
          <p:nvPr/>
        </p:nvSpPr>
        <p:spPr>
          <a:xfrm>
            <a:off x="9461689" y="2213359"/>
            <a:ext cx="7493867" cy="7696171"/>
          </a:xfrm>
          <a:prstGeom prst="round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u="sng" spc="220" dirty="0">
                <a:latin typeface="Franklin Gothic Medium" panose="020B0603020102020204" pitchFamily="34" charset="0"/>
              </a:rPr>
              <a:t>BENEFITS</a:t>
            </a:r>
          </a:p>
          <a:p>
            <a:pPr algn="ctr"/>
            <a:endParaRPr lang="en-IN" sz="1100" u="sng" spc="220" dirty="0">
              <a:latin typeface="Franklin Gothic Medium" panose="020B0603020102020204" pitchFamily="34" charset="0"/>
            </a:endParaRPr>
          </a:p>
          <a:p>
            <a:pPr marL="685800" indent="-685800" algn="l">
              <a:buFont typeface="Wingdings" panose="05000000000000000000" pitchFamily="2" charset="2"/>
              <a:buChar char="Ø"/>
            </a:pPr>
            <a:r>
              <a:rPr lang="en-IN" sz="3200" b="1" dirty="0"/>
              <a:t>Social Benefits-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sz="3200" b="1" dirty="0"/>
              <a:t> </a:t>
            </a:r>
            <a:r>
              <a:rPr lang="en-US" sz="3200" dirty="0"/>
              <a:t>Saves lives by reducing delays.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IN" sz="3200" dirty="0"/>
              <a:t>Improves road safety awareness.</a:t>
            </a:r>
          </a:p>
          <a:p>
            <a:pPr marL="685800" indent="-685800" algn="l">
              <a:buFont typeface="Wingdings" panose="05000000000000000000" pitchFamily="2" charset="2"/>
              <a:buChar char="Ø"/>
            </a:pPr>
            <a:r>
              <a:rPr lang="en-IN" sz="3200" b="1" dirty="0"/>
              <a:t>Economic Benefits-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IN" sz="3200" dirty="0"/>
              <a:t>Reduces long-term treatment costs.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IN" sz="3200" dirty="0"/>
              <a:t>Prevents productivity loss</a:t>
            </a:r>
          </a:p>
          <a:p>
            <a:pPr marL="685800" indent="-685800" algn="l">
              <a:buFont typeface="Wingdings" panose="05000000000000000000" pitchFamily="2" charset="2"/>
              <a:buChar char="Ø"/>
            </a:pPr>
            <a:r>
              <a:rPr lang="en-IN" sz="3200" b="1" dirty="0"/>
              <a:t>Environmental Benefits-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sz="3200" dirty="0"/>
              <a:t>Fewer accident-related traffic jams = less fuel waste &amp; emissions.</a:t>
            </a:r>
            <a:endParaRPr lang="en-IN" sz="3200" dirty="0"/>
          </a:p>
        </p:txBody>
      </p:sp>
      <p:pic>
        <p:nvPicPr>
          <p:cNvPr id="6" name="Picture 5" descr="A logo with a heart and a shield&#10;&#10;AI-generated content may be incorrect.">
            <a:extLst>
              <a:ext uri="{FF2B5EF4-FFF2-40B4-BE49-F238E27FC236}">
                <a16:creationId xmlns:a16="http://schemas.microsoft.com/office/drawing/2014/main" id="{4AE133AA-9C6E-3CC2-325E-4A08FEF054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082" y="18155"/>
            <a:ext cx="3845689" cy="154309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logo with a heart and a shield&#10;&#10;AI-generated content may be incorrect.">
            <a:extLst>
              <a:ext uri="{FF2B5EF4-FFF2-40B4-BE49-F238E27FC236}">
                <a16:creationId xmlns:a16="http://schemas.microsoft.com/office/drawing/2014/main" id="{797B0323-5583-3481-3027-B03BD18B124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55393" y="-190500"/>
            <a:ext cx="20802600" cy="134112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06502" y="2003577"/>
            <a:ext cx="15878810" cy="778674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i="1" dirty="0"/>
              <a:t>How Our Solution Addresses the Core Problem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Instant Detection &amp; Alerts</a:t>
            </a:r>
            <a:r>
              <a:rPr lang="en-US" sz="2800" dirty="0"/>
              <a:t> → Sends real-time location and rider’s health status.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No Rider Dependency</a:t>
            </a:r>
            <a:r>
              <a:rPr lang="en-US" sz="2800" dirty="0"/>
              <a:t> → Works even if the victim is unconscious.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Journey Safety App</a:t>
            </a:r>
            <a:r>
              <a:rPr lang="en-US" sz="2800" dirty="0"/>
              <a:t> → Family &amp; friends can track rides and get instant alerts.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Critical Blood Support</a:t>
            </a:r>
            <a:r>
              <a:rPr lang="en-US" sz="2800" dirty="0"/>
              <a:t> → Connects to nearby blood banks and notifies matching donors during severe blood loss.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i="1" dirty="0"/>
              <a:t>Backup System </a:t>
            </a:r>
            <a:r>
              <a:rPr lang="en-US" sz="2800" dirty="0"/>
              <a:t>→ If no phone, </a:t>
            </a:r>
            <a:r>
              <a:rPr lang="en-US" sz="2800" b="1" dirty="0"/>
              <a:t>GSM sends SMS alerts</a:t>
            </a:r>
            <a:r>
              <a:rPr lang="en-US" sz="2800" dirty="0"/>
              <a:t> to ensure help is always notified.</a:t>
            </a:r>
            <a:br>
              <a:rPr lang="en-US" sz="2800" dirty="0"/>
            </a:br>
            <a:endParaRPr lang="en-US" sz="2800" i="1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i="1" dirty="0"/>
              <a:t> Potential for Scaling &amp; Future Scope Scaling</a:t>
            </a:r>
            <a:endParaRPr lang="en-US" sz="2800" i="1" dirty="0"/>
          </a:p>
          <a:p>
            <a:r>
              <a:rPr lang="en-US" sz="2800" dirty="0"/>
              <a:t>Adoptable for all two-wheelers, ride-sharing, and long-distance travel.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i="1" dirty="0"/>
              <a:t>Future Improvements</a:t>
            </a:r>
            <a:endParaRPr lang="en-US" sz="2800" i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AI-based accident severity grading.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Direct integration with blood bank networks &amp; donor platforms.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Link with hospitals and emergency helplines (108/112).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i="1" dirty="0"/>
              <a:t>Broader Applications</a:t>
            </a:r>
            <a:endParaRPr lang="en-US" sz="2800" i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Extendable to cars, trucks, buses, and logistics fleets.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Vital for elderly travelers, delivery riders, and accident-prone regions.</a:t>
            </a: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endParaRPr lang="en-US" sz="2800" dirty="0">
              <a:latin typeface="Franklin Gothic Medium" panose="020B0603020102020204" pitchFamily="34" charset="0"/>
              <a:cs typeface="Trebuchet MS" panose="020B0603020202020204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6553200" y="496676"/>
            <a:ext cx="777684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70" dirty="0">
                <a:latin typeface="Franklin Gothic Medium" panose="020B0603020102020204" pitchFamily="34" charset="0"/>
              </a:rPr>
              <a:t>CONCLUSION</a:t>
            </a:r>
          </a:p>
        </p:txBody>
      </p:sp>
      <p:sp>
        <p:nvSpPr>
          <p:cNvPr id="3" name="object 3"/>
          <p:cNvSpPr/>
          <p:nvPr/>
        </p:nvSpPr>
        <p:spPr>
          <a:xfrm>
            <a:off x="705082" y="1771873"/>
            <a:ext cx="16923385" cy="0"/>
          </a:xfrm>
          <a:custGeom>
            <a:avLst/>
            <a:gdLst/>
            <a:ahLst/>
            <a:cxnLst/>
            <a:rect l="l" t="t" r="r" b="b"/>
            <a:pathLst>
              <a:path w="16923385">
                <a:moveTo>
                  <a:pt x="0" y="0"/>
                </a:moveTo>
                <a:lnTo>
                  <a:pt x="16923372" y="0"/>
                </a:lnTo>
              </a:path>
            </a:pathLst>
          </a:custGeom>
          <a:ln w="66674">
            <a:solidFill>
              <a:srgbClr val="B590BE"/>
            </a:solidFill>
          </a:ln>
        </p:spPr>
        <p:txBody>
          <a:bodyPr wrap="square" lIns="0" tIns="0" rIns="0" bIns="0" rtlCol="0"/>
          <a:lstStyle/>
          <a:p>
            <a:endParaRPr lang="en-US" dirty="0">
              <a:latin typeface="Franklin Gothic Medium" panose="020B0603020102020204" pitchFamily="34" charset="0"/>
            </a:endParaRPr>
          </a:p>
          <a:p>
            <a:endParaRPr dirty="0">
              <a:latin typeface="Franklin Gothic Medium" panose="020B0603020102020204" pitchFamily="34" charset="0"/>
            </a:endParaRPr>
          </a:p>
        </p:txBody>
      </p:sp>
      <p:pic>
        <p:nvPicPr>
          <p:cNvPr id="6" name="Picture 5" descr="A logo with a heart and a shield&#10;&#10;AI-generated content may be incorrect.">
            <a:extLst>
              <a:ext uri="{FF2B5EF4-FFF2-40B4-BE49-F238E27FC236}">
                <a16:creationId xmlns:a16="http://schemas.microsoft.com/office/drawing/2014/main" id="{AF603FFE-CEB3-6ACA-8147-233987DE5EB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480" y="34990"/>
            <a:ext cx="3643919" cy="150518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713</Words>
  <Application>Microsoft Office PowerPoint</Application>
  <PresentationFormat>Custom</PresentationFormat>
  <Paragraphs>100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Franklin Gothic Medium</vt:lpstr>
      <vt:lpstr>Trebuchet MS</vt:lpstr>
      <vt:lpstr>Wingdings</vt:lpstr>
      <vt:lpstr>Office Theme</vt:lpstr>
      <vt:lpstr>PROTOPLANET</vt:lpstr>
      <vt:lpstr>PROBLEM STATEMENT</vt:lpstr>
      <vt:lpstr>SCOPE</vt:lpstr>
      <vt:lpstr>SOLUTION OVERVIEW</vt:lpstr>
      <vt:lpstr>TECHNICAL APPROACH</vt:lpstr>
      <vt:lpstr>WORK FLOW</vt:lpstr>
      <vt:lpstr>IMPACT AND BENEFITS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IET IGNITE</dc:title>
  <dc:creator>abhaysurya3115</dc:creator>
  <cp:keywords>DAGUITFsNm0,BAEPn0dd3lk</cp:keywords>
  <cp:lastModifiedBy>m viswitha</cp:lastModifiedBy>
  <cp:revision>8</cp:revision>
  <dcterms:created xsi:type="dcterms:W3CDTF">2024-10-20T17:56:00Z</dcterms:created>
  <dcterms:modified xsi:type="dcterms:W3CDTF">2025-09-21T06:54:01Z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2024-10-20T05:30:00Z</vt:filetime>
  </property>
  <property fmtid="{D5CDD505-2E9C-101B-9397-08002B2CF9AE}" pid="3" name="Creator">
    <vt:lpwstr>Canva</vt:lpwstr>
  </property>
  <property fmtid="{D5CDD505-2E9C-101B-9397-08002B2CF9AE}" pid="4" name="LastSaved">
    <vt:filetime>2024-10-20T05:30:00Z</vt:filetime>
  </property>
  <property fmtid="{D5CDD505-2E9C-101B-9397-08002B2CF9AE}" pid="5" name="Producer">
    <vt:lpwstr>Canva</vt:lpwstr>
  </property>
  <property fmtid="{D5CDD505-2E9C-101B-9397-08002B2CF9AE}" pid="6" name="ICV">
    <vt:lpwstr>FC0D55F22DA44F549731ADB94E827E14_13</vt:lpwstr>
  </property>
  <property fmtid="{D5CDD505-2E9C-101B-9397-08002B2CF9AE}" pid="7" name="KSOProductBuildVer">
    <vt:lpwstr>1033-12.2.0.22549</vt:lpwstr>
  </property>
</Properties>
</file>